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38" y="8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18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7179733" y="-548640"/>
            <a:ext cx="2743200" cy="2743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Personal Carbon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 Predictor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943600" cy="502920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Streamlit  ·  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Ajani   ·   Diya Kukadia   ·   Dakshesh Parmar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 |  Marwadi University  |  2025–26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Nikunj Bosamiya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7840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941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289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3852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" y="1901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249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986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engineered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85876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" y="3822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&amp; compared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97840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941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1289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performance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93852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04688" y="1901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249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walkthrough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889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28986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0468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04688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0" y="822960"/>
            <a:ext cx="2743200" cy="2743200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~75%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9D8"/>
                </a:solidFill>
              </a:rPr>
              <a:t>of individuals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E9D8"/>
                </a:solidFill>
              </a:rPr>
              <a:t>cannot estimate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E9D8"/>
                </a:solidFill>
              </a:rPr>
              <a:t>their CO₂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051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calculators use static national averages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82880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tools miss behavioral nuances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274320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ML-based personal carbon tool exists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365760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749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794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interpretable, actionable insights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Accurate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daily CO₂e from real multi-dimensional lifestyle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ML-Based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regression models on behavioral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9456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8 enriched features (transport intensity, dirty energy, diet score…)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19456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interactive 5-page web application for live prediction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2044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model coefficients so users understand what drives their score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52044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ML research &amp; everyday environmental action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Feature Variables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Multi-Dimensional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raw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carbon_footprint_kg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011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Input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transport_mode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Bus / EV / Bike / Walk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80720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61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761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travel distance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145536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099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electricity_kwh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099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electricity usage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483864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renewable_usage_pct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3438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renewable energy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22192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776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food_type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0" y="3776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 / Vegetarian / Omnivore…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114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waste_generated_kg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waste produced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498848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453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screen_time_hours / eco_actions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4453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behaviours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17720" y="2011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Features (8)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45152" y="246888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transport_intensity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2423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× transport emission factor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280720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761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long_distance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distance &gt; 15 km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5152" y="3145536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099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zero_emission_transport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0" y="3099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or Bike flag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5152" y="3483864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438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energy_level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438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kWh band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45152" y="382219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renewable_champion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3776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renewable ≥ 75%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45152" y="416052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dirty_energy_kwh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4114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× (1 - renewable%)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45152" y="449884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4453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waste_per_screen_hour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58000" y="4453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/ (screen_time + 1)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45152" y="4837176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47914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diet_emission_score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858000" y="47914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score per food type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Raw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Collection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89888" y="1508760"/>
            <a:ext cx="274320" cy="0"/>
          </a:xfrm>
          <a:prstGeom prst="line">
            <a:avLst/>
          </a:prstGeom>
          <a:noFill/>
          <a:ln w="25400">
            <a:solidFill>
              <a:srgbClr val="5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6408" y="1341628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64208" y="914400"/>
            <a:ext cx="1188720" cy="118872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166420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1848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52928" y="1508760"/>
            <a:ext cx="274320" cy="0"/>
          </a:xfrm>
          <a:prstGeom prst="line">
            <a:avLst/>
          </a:prstGeom>
          <a:noFill/>
          <a:ln w="25400">
            <a:solidFill>
              <a:srgbClr val="5A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1338580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914400"/>
            <a:ext cx="1188720" cy="11887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312724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8152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15968" y="1508760"/>
            <a:ext cx="274320" cy="0"/>
          </a:xfrm>
          <a:prstGeom prst="line">
            <a:avLst/>
          </a:prstGeom>
          <a:noFill/>
          <a:ln w="25400">
            <a:solidFill>
              <a:srgbClr val="5A7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9948" y="1370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90288" y="914400"/>
            <a:ext cx="1188720" cy="11887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4456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79008" y="1508760"/>
            <a:ext cx="274320" cy="0"/>
          </a:xfrm>
          <a:prstGeom prst="line">
            <a:avLst/>
          </a:prstGeom>
          <a:noFill/>
          <a:ln w="25400">
            <a:solidFill>
              <a:srgbClr val="5A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8576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53328" y="914400"/>
            <a:ext cx="1188720" cy="118872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7" name="Text 25"/>
          <p:cNvSpPr/>
          <p:nvPr/>
        </p:nvSpPr>
        <p:spPr>
          <a:xfrm>
            <a:off x="605332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0760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Comparison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42048" y="1508760"/>
            <a:ext cx="274320" cy="0"/>
          </a:xfrm>
          <a:prstGeom prst="line">
            <a:avLst/>
          </a:prstGeom>
          <a:noFill/>
          <a:ln w="25400">
            <a:solidFill>
              <a:srgbClr val="5A7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41616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16368" y="914400"/>
            <a:ext cx="1188720" cy="1188720"/>
          </a:xfrm>
          <a:prstGeom prst="ellipse">
            <a:avLst/>
          </a:prstGeom>
          <a:solidFill>
            <a:srgbClr val="1B3A2D"/>
          </a:solidFill>
          <a:ln/>
        </p:spPr>
      </p:sp>
      <p:sp>
        <p:nvSpPr>
          <p:cNvPr id="32" name="Text 30"/>
          <p:cNvSpPr/>
          <p:nvPr/>
        </p:nvSpPr>
        <p:spPr>
          <a:xfrm>
            <a:off x="7516368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0648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24231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Trained &amp; Compared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28600" y="28346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834640"/>
            <a:ext cx="2011680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Selected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3255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28346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23160" y="2834640"/>
            <a:ext cx="20116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2" name="Text 40"/>
          <p:cNvSpPr/>
          <p:nvPr/>
        </p:nvSpPr>
        <p:spPr>
          <a:xfrm>
            <a:off x="242316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600" y="3255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1460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28346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2834640"/>
            <a:ext cx="2011680" cy="34747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3255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091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12280" y="28346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12280" y="2834640"/>
            <a:ext cx="201168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681228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03720" y="3255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0372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457200"/>
          </a:xfrm>
          <a:prstGeom prst="rect">
            <a:avLst/>
          </a:prstGeom>
          <a:solidFill>
            <a:srgbClr val="2C5F2D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Best Model: Linear Regression  —  Selected for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201168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417320"/>
            <a:ext cx="20116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 kg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1460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417320"/>
            <a:ext cx="2011680" cy="9144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84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 kg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0916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CO₂/day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417320"/>
            <a:ext cx="2011680" cy="91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0372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Train≈Test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2926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Table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40727"/>
              </p:ext>
            </p:extLst>
          </p:nvPr>
        </p:nvGraphicFramePr>
        <p:xfrm>
          <a:off x="228600" y="3291840"/>
          <a:ext cx="8686800" cy="1691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Application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8686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109728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9509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9692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932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12252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preview, model info, row/column 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024128"/>
            <a:ext cx="6858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02412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1682496"/>
            <a:ext cx="8686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682496"/>
            <a:ext cx="109728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179222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1810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20665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plots, transport usage, correlation heatmap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1865376"/>
            <a:ext cx="6858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86537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523744"/>
            <a:ext cx="8686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23744"/>
            <a:ext cx="109728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263347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2651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Prediction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29077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input → live CO₂ prediction + impact level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2706624"/>
            <a:ext cx="685800" cy="3200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70662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364992"/>
            <a:ext cx="8686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364992"/>
            <a:ext cx="109728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" y="34747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493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630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Category-wise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63040" y="37490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from Food / Transport / Energy / Lifestyle / Waste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3547872"/>
            <a:ext cx="685800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1" name="Text 39"/>
          <p:cNvSpPr/>
          <p:nvPr/>
        </p:nvSpPr>
        <p:spPr>
          <a:xfrm>
            <a:off x="8138160" y="35478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28600" y="4206240"/>
            <a:ext cx="109728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4" name="Shape 42"/>
          <p:cNvSpPr/>
          <p:nvPr/>
        </p:nvSpPr>
        <p:spPr>
          <a:xfrm>
            <a:off x="384048" y="431596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3342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630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Insights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463040" y="45902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coefficients, model comparison table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4389120"/>
            <a:ext cx="685800" cy="32004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50" name="Text 48"/>
          <p:cNvSpPr/>
          <p:nvPr/>
        </p:nvSpPr>
        <p:spPr>
          <a:xfrm>
            <a:off x="8138160" y="4389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686800" cy="1143000"/>
          </a:xfrm>
          <a:prstGeom prst="rect">
            <a:avLst/>
          </a:prstGeom>
          <a:solidFill>
            <a:srgbClr val="4A7C5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868680"/>
            <a:ext cx="164592" cy="11430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personal_carbon_footprint_behavior.csv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behavioral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792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input features +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2240280"/>
            <a:ext cx="8686800" cy="11430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2240280"/>
            <a:ext cx="164592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Mini_Project.ipynb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Preprocessing → Feature Engineering → Training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163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Saved: best_model.pkl, scaler.pkl, label_encoders.pkl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5A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602736"/>
            <a:ext cx="8686800" cy="114300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3611880"/>
            <a:ext cx="164592" cy="1143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app.py (Streamlit)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793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navigation pages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5354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joblib model loading → live predictions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483192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8EC0894-91D8-46E6-963E-41753E61B8D3}"/>
              </a:ext>
            </a:extLst>
          </p:cNvPr>
          <p:cNvGrpSpPr/>
          <p:nvPr/>
        </p:nvGrpSpPr>
        <p:grpSpPr>
          <a:xfrm>
            <a:off x="1042416" y="4838531"/>
            <a:ext cx="7872984" cy="256032"/>
            <a:chOff x="1371600" y="4709160"/>
            <a:chExt cx="7872984" cy="256032"/>
          </a:xfrm>
        </p:grpSpPr>
        <p:sp>
          <p:nvSpPr>
            <p:cNvPr id="27" name="Shape 25"/>
            <p:cNvSpPr/>
            <p:nvPr/>
          </p:nvSpPr>
          <p:spPr>
            <a:xfrm>
              <a:off x="1371600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Shape 27"/>
            <p:cNvSpPr/>
            <p:nvPr/>
          </p:nvSpPr>
          <p:spPr>
            <a:xfrm>
              <a:off x="2359152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/>
            <p:cNvSpPr/>
            <p:nvPr/>
          </p:nvSpPr>
          <p:spPr>
            <a:xfrm>
              <a:off x="3346704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334256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321808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6309360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7296912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8284464" y="4709160"/>
              <a:ext cx="960120" cy="256032"/>
            </a:xfrm>
            <a:prstGeom prst="rect">
              <a:avLst/>
            </a:prstGeom>
            <a:solidFill>
              <a:srgbClr val="1B3A2D">
                <a:alpha val="85000"/>
              </a:srgbClr>
            </a:solidFill>
            <a:ln/>
          </p:spPr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29E32E-CBE0-42B9-9CD4-3D8943FE5397}"/>
              </a:ext>
            </a:extLst>
          </p:cNvPr>
          <p:cNvGrpSpPr/>
          <p:nvPr/>
        </p:nvGrpSpPr>
        <p:grpSpPr>
          <a:xfrm>
            <a:off x="1056132" y="4831927"/>
            <a:ext cx="7872984" cy="256032"/>
            <a:chOff x="1371600" y="4709160"/>
            <a:chExt cx="7872984" cy="256032"/>
          </a:xfrm>
        </p:grpSpPr>
        <p:sp>
          <p:nvSpPr>
            <p:cNvPr id="28" name="Text 26"/>
            <p:cNvSpPr/>
            <p:nvPr/>
          </p:nvSpPr>
          <p:spPr>
            <a:xfrm>
              <a:off x="1371600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Python 3.x</a:t>
              </a:r>
              <a:endParaRPr lang="en-US" sz="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359152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scikit-learn</a:t>
              </a:r>
              <a:endParaRPr lang="en-US" sz="8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346704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Streamlit</a:t>
              </a:r>
              <a:endParaRPr lang="en-US" sz="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334256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Pandas</a:t>
              </a:r>
              <a:endParaRPr lang="en-US" sz="8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321808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NumPy</a:t>
              </a:r>
              <a:endParaRPr lang="en-US" sz="8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309360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Matplotlib</a:t>
              </a:r>
              <a:endParaRPr lang="en-US" sz="8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296912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Seaborn</a:t>
              </a:r>
              <a:endParaRPr lang="en-US" sz="8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284464" y="4709160"/>
              <a:ext cx="960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joblib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2618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all ensemble models with Test R² = 0.9921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84248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7568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011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engineered features significantly boosted predictive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34056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2549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614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provides real-time, accessible carbon footprint estimation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7530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51129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breakdown helps users identify high-emission behaviors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4233672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32511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2611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ML research and environmental awareness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34440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IoT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581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&amp; GPS data feeds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984248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84248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deployment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734056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734056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30815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 time-series patterns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483864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483864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9496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Region-specific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38313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emission factors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233672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4233672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9496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Use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94960" y="4581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team carbon tracking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5F2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97BC62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640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🌱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Carbon Footprint Predictor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Ajani  ·  Diya Kukadia  ·  Dakshesh Parmar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Nikunj Bosamiya  |  MSc Data Science  |  Marwadi University  |  2025–26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 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828</Words>
  <Application>Microsoft Office PowerPoint</Application>
  <PresentationFormat>On-screen Show (16:9)</PresentationFormat>
  <Paragraphs>281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Carbon Footprint Predictor</dc:title>
  <dc:subject>PptxGenJS Presentation</dc:subject>
  <dc:creator>Kaushik Ajani, Diya Kukadia, Dakshesh Parmar</dc:creator>
  <cp:lastModifiedBy>Diya Kukadia</cp:lastModifiedBy>
  <cp:revision>4</cp:revision>
  <dcterms:created xsi:type="dcterms:W3CDTF">2026-04-11T12:33:32Z</dcterms:created>
  <dcterms:modified xsi:type="dcterms:W3CDTF">2026-04-11T13:02:10Z</dcterms:modified>
</cp:coreProperties>
</file>